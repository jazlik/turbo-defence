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Plan dla twojego domu: Odpowiadasz na kilka pytań, a aplikacja układa plan według wytycznych rządowych.</a:t>
            </a:r>
          </a:p>
          <a:p>
            <a:r>
              <a:rPr lang="pl-PL" dirty="0"/>
              <a:t>Cała rodzina w planie: Dodajesz domowników, żeby każdy wiedział, co ma robić.</a:t>
            </a:r>
          </a:p>
          <a:p>
            <a:r>
              <a:rPr lang="pl-PL" dirty="0"/>
              <a:t>Plecak i miejsca spotkań: Wiesz, co spakować, gdzie się spotkać i dokąd iść, gdy pierwsze miejsce odpada.</a:t>
            </a:r>
          </a:p>
          <a:p>
            <a:r>
              <a:rPr lang="pl-PL" dirty="0"/>
              <a:t>Tryb awaryjny: Gdy coś się dzieje, aplikacja prowadzi cię krok po kroku, także bez internetu.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Gdzie jest rodzina: Lokalizacja domowników w jednym miejscu, gdy trzeba się szybko odnaleźć.</a:t>
            </a:r>
          </a:p>
          <a:p>
            <a:r>
              <a:rPr lang="pl-PL" dirty="0"/>
              <a:t>Wspólny plan: Udostępniasz plan bliskim i wszyscy mają tę samą, aktualną wersję.</a:t>
            </a:r>
          </a:p>
          <a:p>
            <a:r>
              <a:rPr lang="pl-PL" dirty="0"/>
              <a:t>Oficjalne dane: Alerty i punkty ochronne trafiają prosto do twojego planu.</a:t>
            </a:r>
          </a:p>
          <a:p>
            <a:r>
              <a:rPr lang="pl-PL" dirty="0"/>
              <a:t>Więcej scenariuszy: Blackout, powódź, brak wody – kolejne sytuacje poza ewakuacją.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1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60960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417290"/>
            <a:ext cx="10566400" cy="4627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60960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417290"/>
            <a:ext cx="10566400" cy="4627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s1_logo-glyph.png"/><Relationship Id="rId4" Type="http://schemas.openxmlformats.org/officeDocument/2006/relationships/image" Target="../media/r1_il-domownicy.png"/><Relationship Id="rId5" Type="http://schemas.openxmlformats.org/officeDocument/2006/relationships/image" Target="../media/r1_tekstura-mapa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s4_slajd-4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s5_logo-glyph.png"/><Relationship Id="rId4" Type="http://schemas.openxmlformats.org/officeDocument/2006/relationships/image" Target="../media/r5_il-domownicy.png"/><Relationship Id="rId5" Type="http://schemas.openxmlformats.org/officeDocument/2006/relationships/image" Target="../media/r5_il-udostepnienie.png"/><Relationship Id="rId6" Type="http://schemas.openxmlformats.org/officeDocument/2006/relationships/image" Target="../media/r5_il-plecak.png"/><Relationship Id="rId7" Type="http://schemas.openxmlformats.org/officeDocument/2006/relationships/image" Target="../media/r5_il-prowadzenie.png"/><Relationship Id="rId8" Type="http://schemas.openxmlformats.org/officeDocument/2006/relationships/image" Target="../media/r5_House.png"/><Relationship Id="rId9" Type="http://schemas.openxmlformats.org/officeDocument/2006/relationships/image" Target="../media/r5_Users.png"/><Relationship Id="rId10" Type="http://schemas.openxmlformats.org/officeDocument/2006/relationships/image" Target="../media/r5_Backpack.png"/><Relationship Id="rId11" Type="http://schemas.openxmlformats.org/officeDocument/2006/relationships/image" Target="../media/r5_Navigation.png"/><Relationship Id="rId12" Type="http://schemas.openxmlformats.org/officeDocument/2006/relationships/image" Target="../media/r5_tekstura-mapa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s6_przygotowanie-1-miejsca.png"/><Relationship Id="rId4" Type="http://schemas.openxmlformats.org/officeDocument/2006/relationships/image" Target="../media/s6_przygotowanie-2-plecak.png"/><Relationship Id="rId5" Type="http://schemas.openxmlformats.org/officeDocument/2006/relationships/image" Target="../media/s6_kryzys-1-krok.png"/><Relationship Id="rId6" Type="http://schemas.openxmlformats.org/officeDocument/2006/relationships/image" Target="../media/s6_kryzys-2-prowadzenie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s7_ListChecks.png"/><Relationship Id="rId4" Type="http://schemas.openxmlformats.org/officeDocument/2006/relationships/image" Target="../media/s7_Footprints.png"/><Relationship Id="rId5" Type="http://schemas.openxmlformats.org/officeDocument/2006/relationships/image" Target="../media/s7_WifiOff.png"/><Relationship Id="rId6" Type="http://schemas.openxmlformats.org/officeDocument/2006/relationships/image" Target="../media/s7_UserX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r8_il8-rodzina.png"/><Relationship Id="rId4" Type="http://schemas.openxmlformats.org/officeDocument/2006/relationships/image" Target="../media/r8_il8-wspolny-plan.png"/><Relationship Id="rId5" Type="http://schemas.openxmlformats.org/officeDocument/2006/relationships/image" Target="../media/r8_il8-oficjalne-dane.png"/><Relationship Id="rId6" Type="http://schemas.openxmlformats.org/officeDocument/2006/relationships/image" Target="../media/r8_il8-scenariusze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s9_Newspaper.png"/><Relationship Id="rId4" Type="http://schemas.openxmlformats.org/officeDocument/2006/relationships/image" Target="../media/s9_PackageOpen.png"/><Relationship Id="rId5" Type="http://schemas.openxmlformats.org/officeDocument/2006/relationships/image" Target="../media/s9_Library.png"/><Relationship Id="rId6" Type="http://schemas.openxmlformats.org/officeDocument/2006/relationships/image" Target="../media/s9_Route.png"/><Relationship Id="rId7" Type="http://schemas.openxmlformats.org/officeDocument/2006/relationships/image" Target="../media/r9_tekstura-mapa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1" name="Ilustracja" descr="Tło: stylizowana mapa ulic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001" name="Panel ilustracji"/>
          <p:cNvSpPr/>
          <p:nvPr/>
        </p:nvSpPr>
        <p:spPr>
          <a:xfrm>
            <a:off x="6903720" y="0"/>
            <a:ext cx="5287975" cy="6858000"/>
          </a:xfrm>
          <a:prstGeom prst="rect">
            <a:avLst/>
          </a:prstGeom>
          <a:solidFill>
            <a:srgbClr val="E3E7E9"/>
          </a:solidFill>
          <a:ln>
            <a:noFill/>
          </a:ln>
        </p:spPr>
      </p:sp>
      <p:sp>
        <p:nvSpPr>
          <p:cNvPr id="2" name="Text 0"/>
          <p:cNvSpPr/>
          <p:nvPr/>
        </p:nvSpPr>
        <p:spPr>
          <a:xfrm>
            <a:off x="812800" y="609600"/>
            <a:ext cx="57607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6B7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HackYeah 2026 · Defence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524770"/>
            <a:ext cx="1270000" cy="1270000"/>
          </a:xfrm>
          <a:prstGeom prst="roundRect">
            <a:avLst>
              <a:gd name="adj" fmla="val 14000"/>
            </a:avLst>
          </a:prstGeom>
          <a:solidFill>
            <a:srgbClr val="536B7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F7FA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/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2438400" y="2435870"/>
            <a:ext cx="429768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i="0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W razie W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2438400" y="3553470"/>
            <a:ext cx="420624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Domowy plan na kryzys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800" y="5496620"/>
            <a:ext cx="576072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[Nazwa zespołu]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5796310"/>
            <a:ext cx="576072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646B7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[Imię Nazwisko] · [Imię Nazwisko] · [Imię Nazwisko] · [Imię Nazwisko]</a:t>
            </a:r>
            <a:endParaRPr lang="en-US" sz="1400" dirty="0"/>
          </a:p>
        </p:txBody>
      </p:sp>
      <p:pic>
        <p:nvPicPr>
          <p:cNvPr id="1001" name="Image 1001" descr="Logo W razie 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26370"/>
            <a:ext cx="1066799" cy="1066799"/>
          </a:xfrm>
          <a:prstGeom prst="rect">
            <a:avLst/>
          </a:prstGeom>
        </p:spPr>
      </p:pic>
      <p:pic>
        <p:nvPicPr>
          <p:cNvPr id="2002" name="Ilustracja" descr="Ilustracja: rodzina w drzwiach domu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2315" y="1097280"/>
            <a:ext cx="4930786" cy="5760720"/>
          </a:xfrm>
          <a:prstGeom prst="rect">
            <a:avLst/>
          </a:prstGeom>
        </p:spPr>
      </p:pic>
      <p:sp>
        <p:nvSpPr>
          <p:cNvPr id="2003" name="Ścieżka okładki"/>
          <p:cNvSpPr/>
          <p:nvPr/>
        </p:nvSpPr>
        <p:spPr>
          <a:xfrm>
            <a:off x="2514600" y="4389120"/>
            <a:ext cx="4297680" cy="914400"/>
          </a:xfrm>
          <a:custGeom>
            <a:avLst/>
            <a:gdLst/>
            <a:ahLst/>
            <a:cxnLst/>
            <a:rect l="0" t="0" r="r" b="b"/>
            <a:pathLst>
              <a:path w="4297680" h="914400">
                <a:moveTo>
                  <a:pt x="4297680" y="868680"/>
                </a:moveTo>
                <a:cubicBezTo>
                  <a:pt x="2880360" y="914400"/>
                  <a:pt x="1508760" y="45720"/>
                  <a:pt x="0" y="0"/>
                </a:cubicBezTo>
              </a:path>
            </a:pathLst>
          </a:custGeom>
          <a:noFill/>
          <a:ln w="28575" cap="rnd">
            <a:solidFill>
              <a:srgbClr val="536B75"/>
            </a:solidFill>
            <a:prstDash val="dash"/>
            <a:round/>
          </a:ln>
        </p:spPr>
      </p:sp>
      <p:sp>
        <p:nvSpPr>
          <p:cNvPr id="2004" name="Punkt"/>
          <p:cNvSpPr/>
          <p:nvPr/>
        </p:nvSpPr>
        <p:spPr>
          <a:xfrm>
            <a:off x="2441448" y="4315968"/>
            <a:ext cx="146304" cy="146304"/>
          </a:xfrm>
          <a:prstGeom prst="ellipse">
            <a:avLst/>
          </a:prstGeom>
          <a:solidFill>
            <a:srgbClr val="536B75"/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Rzeczywistość w Polsce w ostatnich miesiącach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 rot="21510000">
            <a:off x="819150" y="1550640"/>
            <a:ext cx="3924300" cy="1257300"/>
          </a:xfrm>
          <a:prstGeom prst="roundRect">
            <a:avLst>
              <a:gd name="adj" fmla="val 3535"/>
            </a:avLst>
          </a:prstGeom>
          <a:solidFill>
            <a:srgbClr val="FAFAFA"/>
          </a:solidFill>
          <a:ln w="12700">
            <a:solidFill>
              <a:srgbClr val="536B75"/>
            </a:solidFill>
            <a:prstDash val="dash"/>
          </a:ln>
          <a:effectLst>
            <a:outerShdw sx="100000" sy="100000" kx="0" ky="0" algn="bl" rotWithShape="0" blurRad="152400" dist="50800" dir="5400000">
              <a:srgbClr val="202427">
                <a:alpha val="12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6B7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[nagłówek z mediów]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 rot="60000">
            <a:off x="5010150" y="1423640"/>
            <a:ext cx="3289300" cy="1638300"/>
          </a:xfrm>
          <a:prstGeom prst="roundRect">
            <a:avLst>
              <a:gd name="adj" fmla="val 2713"/>
            </a:avLst>
          </a:prstGeom>
          <a:solidFill>
            <a:srgbClr val="FAFAFA"/>
          </a:solidFill>
          <a:ln w="12700">
            <a:solidFill>
              <a:srgbClr val="536B75"/>
            </a:solidFill>
            <a:prstDash val="dash"/>
          </a:ln>
          <a:effectLst>
            <a:outerShdw sx="100000" sy="100000" kx="0" ky="0" algn="bl" rotWithShape="0" blurRad="152400" dist="50800" dir="5400000">
              <a:srgbClr val="202427">
                <a:alpha val="12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6B7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[nagłówek z mediów]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 rot="21540000">
            <a:off x="8566150" y="1677640"/>
            <a:ext cx="2806700" cy="1384300"/>
          </a:xfrm>
          <a:prstGeom prst="roundRect">
            <a:avLst>
              <a:gd name="adj" fmla="val 3211"/>
            </a:avLst>
          </a:prstGeom>
          <a:solidFill>
            <a:srgbClr val="FAFAFA"/>
          </a:solidFill>
          <a:ln w="12700">
            <a:solidFill>
              <a:srgbClr val="536B75"/>
            </a:solidFill>
            <a:prstDash val="dash"/>
          </a:ln>
          <a:effectLst>
            <a:outerShdw sx="100000" sy="100000" kx="0" ky="0" algn="bl" rotWithShape="0" blurRad="152400" dist="50800" dir="5400000">
              <a:srgbClr val="202427">
                <a:alpha val="12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6B7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[nagłówek z mediów]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 rot="90000">
            <a:off x="1327150" y="3265140"/>
            <a:ext cx="3543300" cy="1511300"/>
          </a:xfrm>
          <a:prstGeom prst="roundRect">
            <a:avLst>
              <a:gd name="adj" fmla="val 2941"/>
            </a:avLst>
          </a:prstGeom>
          <a:solidFill>
            <a:srgbClr val="FAFAFA"/>
          </a:solidFill>
          <a:ln w="12700">
            <a:solidFill>
              <a:srgbClr val="536B75"/>
            </a:solidFill>
            <a:prstDash val="dash"/>
          </a:ln>
          <a:effectLst>
            <a:outerShdw sx="100000" sy="100000" kx="0" ky="0" algn="bl" rotWithShape="0" blurRad="152400" dist="50800" dir="5400000">
              <a:srgbClr val="202427">
                <a:alpha val="12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6B7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[nagłówek z mediów]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 rot="21540000">
            <a:off x="5264150" y="3455640"/>
            <a:ext cx="4432300" cy="1384300"/>
          </a:xfrm>
          <a:prstGeom prst="roundRect">
            <a:avLst>
              <a:gd name="adj" fmla="val 3211"/>
            </a:avLst>
          </a:prstGeom>
          <a:solidFill>
            <a:srgbClr val="FAFAFA"/>
          </a:solidFill>
          <a:ln w="12700">
            <a:solidFill>
              <a:srgbClr val="536B75"/>
            </a:solidFill>
            <a:prstDash val="dash"/>
          </a:ln>
          <a:effectLst>
            <a:outerShdw sx="100000" sy="100000" kx="0" ky="0" algn="bl" rotWithShape="0" blurRad="152400" dist="50800" dir="5400000">
              <a:srgbClr val="202427">
                <a:alpha val="12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6B7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[nagłówek z mediów]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204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6B7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2</a:t>
            </a:r>
            <a:endParaRPr lang="en-US" sz="1200" dirty="0"/>
          </a:p>
        </p:txBody>
      </p:sp>
      <p:sp>
        <p:nvSpPr>
          <p:cNvPr id="2032" name="Kicker"/>
          <p:cNvSpPr txBox="1"/>
          <p:nvPr/>
        </p:nvSpPr>
        <p:spPr>
          <a:xfrm>
            <a:off x="813816" y="329184"/>
            <a:ext cx="5486400" cy="23774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r>
              <a:rPr lang="pl-PL" sz="1100" b="1" spc="150" dirty="0">
                <a:solidFill>
                  <a:srgbClr val="536B75"/>
                </a:solidFill>
                <a:latin typeface="Commissioner"/>
              </a:rPr>
              <a:t>KROK 1 ·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Ale czy jesteśmy gotowi?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 rot="21540000">
            <a:off x="1073150" y="1550640"/>
            <a:ext cx="4813300" cy="1892300"/>
          </a:xfrm>
          <a:prstGeom prst="roundRect">
            <a:avLst>
              <a:gd name="adj" fmla="val 2349"/>
            </a:avLst>
          </a:prstGeom>
          <a:solidFill>
            <a:srgbClr val="FAFAFA"/>
          </a:solidFill>
          <a:ln w="12700">
            <a:solidFill>
              <a:srgbClr val="536B75"/>
            </a:solidFill>
            <a:prstDash val="dash"/>
          </a:ln>
          <a:effectLst>
            <a:outerShdw sx="100000" sy="100000" kx="0" ky="0" algn="bl" rotWithShape="0" blurRad="152400" dist="50800" dir="5400000">
              <a:srgbClr val="202427">
                <a:alpha val="12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6B7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[nagłówek z liczbą]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 rot="90000">
            <a:off x="6407150" y="1423640"/>
            <a:ext cx="4686300" cy="1638300"/>
          </a:xfrm>
          <a:prstGeom prst="roundRect">
            <a:avLst>
              <a:gd name="adj" fmla="val 2713"/>
            </a:avLst>
          </a:prstGeom>
          <a:solidFill>
            <a:srgbClr val="FAFAFA"/>
          </a:solidFill>
          <a:ln w="12700">
            <a:solidFill>
              <a:srgbClr val="536B75"/>
            </a:solidFill>
            <a:prstDash val="dash"/>
          </a:ln>
          <a:effectLst>
            <a:outerShdw sx="100000" sy="100000" kx="0" ky="0" algn="bl" rotWithShape="0" blurRad="152400" dist="50800" dir="5400000">
              <a:srgbClr val="202427">
                <a:alpha val="12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6B7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[nagłówek z liczbą]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 rot="60000">
            <a:off x="1835150" y="3709640"/>
            <a:ext cx="3924300" cy="1384300"/>
          </a:xfrm>
          <a:prstGeom prst="roundRect">
            <a:avLst>
              <a:gd name="adj" fmla="val 3211"/>
            </a:avLst>
          </a:prstGeom>
          <a:solidFill>
            <a:srgbClr val="FAFAFA"/>
          </a:solidFill>
          <a:ln w="12700">
            <a:solidFill>
              <a:srgbClr val="536B75"/>
            </a:solidFill>
            <a:prstDash val="dash"/>
          </a:ln>
          <a:effectLst>
            <a:outerShdw sx="100000" sy="100000" kx="0" ky="0" algn="bl" rotWithShape="0" blurRad="152400" dist="50800" dir="5400000">
              <a:srgbClr val="202427">
                <a:alpha val="12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6B7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[nagłówek z mediów]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 rot="21510000">
            <a:off x="6534150" y="3455640"/>
            <a:ext cx="4178300" cy="1511300"/>
          </a:xfrm>
          <a:prstGeom prst="roundRect">
            <a:avLst>
              <a:gd name="adj" fmla="val 2941"/>
            </a:avLst>
          </a:prstGeom>
          <a:solidFill>
            <a:srgbClr val="FAFAFA"/>
          </a:solidFill>
          <a:ln w="12700">
            <a:solidFill>
              <a:srgbClr val="536B75"/>
            </a:solidFill>
            <a:prstDash val="dash"/>
          </a:ln>
          <a:effectLst>
            <a:outerShdw sx="100000" sy="100000" kx="0" ky="0" algn="bl" rotWithShape="0" blurRad="152400" dist="50800" dir="5400000">
              <a:srgbClr val="202427">
                <a:alpha val="12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6B7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[nagłówek z mediów]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8204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6B7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3</a:t>
            </a:r>
            <a:endParaRPr lang="en-US" sz="1200" dirty="0"/>
          </a:p>
        </p:txBody>
      </p:sp>
      <p:sp>
        <p:nvSpPr>
          <p:cNvPr id="2033" name="Kicker"/>
          <p:cNvSpPr txBox="1"/>
          <p:nvPr/>
        </p:nvSpPr>
        <p:spPr>
          <a:xfrm>
            <a:off x="813816" y="329184"/>
            <a:ext cx="5486400" cy="23774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r>
              <a:rPr lang="pl-PL" sz="1100" b="1" spc="150" dirty="0">
                <a:solidFill>
                  <a:srgbClr val="536B75"/>
                </a:solidFill>
                <a:latin typeface="Commissioner"/>
              </a:rPr>
              <a:t>KROK 2 · 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Informacja ≠ gotowość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 rot="21480000">
            <a:off x="819150" y="1423640"/>
            <a:ext cx="2527300" cy="1447800"/>
          </a:xfrm>
          <a:prstGeom prst="roundRect">
            <a:avLst>
              <a:gd name="adj" fmla="val 3070"/>
            </a:avLst>
          </a:prstGeom>
          <a:solidFill>
            <a:srgbClr val="FAFAFA"/>
          </a:solidFill>
          <a:ln w="12700">
            <a:solidFill>
              <a:srgbClr val="536B75"/>
            </a:solidFill>
            <a:prstDash val="dash"/>
          </a:ln>
          <a:effectLst>
            <a:outerShdw sx="100000" sy="100000" kx="0" ky="0" algn="bl" rotWithShape="0" blurRad="152400" dist="50800" dir="5400000">
              <a:srgbClr val="202427">
                <a:alpha val="12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6B7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[poradnik]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 rot="90000">
            <a:off x="1200150" y="3138140"/>
            <a:ext cx="2400300" cy="1320800"/>
          </a:xfrm>
          <a:prstGeom prst="roundRect">
            <a:avLst>
              <a:gd name="adj" fmla="val 3365"/>
            </a:avLst>
          </a:prstGeom>
          <a:solidFill>
            <a:srgbClr val="FAFAFA"/>
          </a:solidFill>
          <a:ln w="12700">
            <a:solidFill>
              <a:srgbClr val="536B75"/>
            </a:solidFill>
            <a:prstDash val="dash"/>
          </a:ln>
          <a:effectLst>
            <a:outerShdw sx="100000" sy="100000" kx="0" ky="0" algn="bl" rotWithShape="0" blurRad="152400" dist="50800" dir="5400000">
              <a:srgbClr val="202427">
                <a:alpha val="12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6B7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[PDF-y]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 rot="60000">
            <a:off x="4629150" y="1423640"/>
            <a:ext cx="2781300" cy="812800"/>
          </a:xfrm>
          <a:prstGeom prst="roundRect">
            <a:avLst>
              <a:gd name="adj" fmla="val 5469"/>
            </a:avLst>
          </a:prstGeom>
          <a:solidFill>
            <a:srgbClr val="FAFAFA"/>
          </a:solidFill>
          <a:ln w="12700">
            <a:solidFill>
              <a:srgbClr val="536B75"/>
            </a:solidFill>
            <a:prstDash val="dash"/>
          </a:ln>
          <a:effectLst>
            <a:outerShdw sx="100000" sy="100000" kx="0" ky="0" algn="bl" rotWithShape="0" blurRad="152400" dist="50800" dir="5400000">
              <a:srgbClr val="202427">
                <a:alpha val="12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6B7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[recenzje aplikacji]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 rot="120000">
            <a:off x="7931150" y="1423640"/>
            <a:ext cx="2654300" cy="1384300"/>
          </a:xfrm>
          <a:prstGeom prst="roundRect">
            <a:avLst>
              <a:gd name="adj" fmla="val 3211"/>
            </a:avLst>
          </a:prstGeom>
          <a:solidFill>
            <a:srgbClr val="FAFAFA"/>
          </a:solidFill>
          <a:ln w="12700">
            <a:solidFill>
              <a:srgbClr val="536B75"/>
            </a:solidFill>
            <a:prstDash val="dash"/>
          </a:ln>
          <a:effectLst>
            <a:outerShdw sx="100000" sy="100000" kx="0" ky="0" algn="bl" rotWithShape="0" blurRad="152400" dist="50800" dir="5400000">
              <a:srgbClr val="202427">
                <a:alpha val="12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6B7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[mapa schronów]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 rot="21510000">
            <a:off x="8693150" y="3074640"/>
            <a:ext cx="2527300" cy="1384300"/>
          </a:xfrm>
          <a:prstGeom prst="roundRect">
            <a:avLst>
              <a:gd name="adj" fmla="val 3211"/>
            </a:avLst>
          </a:prstGeom>
          <a:solidFill>
            <a:srgbClr val="FAFAFA"/>
          </a:solidFill>
          <a:ln w="12700">
            <a:solidFill>
              <a:srgbClr val="536B75"/>
            </a:solidFill>
            <a:prstDash val="dash"/>
          </a:ln>
          <a:effectLst>
            <a:outerShdw sx="100000" sy="100000" kx="0" ky="0" algn="bl" rotWithShape="0" blurRad="152400" dist="50800" dir="5400000">
              <a:srgbClr val="202427">
                <a:alpha val="12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6B7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[aplikacje]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800" y="4897090"/>
            <a:ext cx="2626916" cy="406400"/>
          </a:xfrm>
          <a:prstGeom prst="roundRect">
            <a:avLst>
              <a:gd name="adj" fmla="val 12500"/>
            </a:avLst>
          </a:prstGeom>
          <a:solidFill>
            <a:srgbClr val="C89A4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[17 mln] poradników.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566716" y="4922490"/>
            <a:ext cx="235237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Czytaliście swój?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12800" y="537969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646B7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Informacji jest dużo, ale własny plan i tak trzeba ułożyć samemu.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8204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6B7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4</a:t>
            </a:r>
            <a:endParaRPr lang="en-US" sz="1200" dirty="0"/>
          </a:p>
        </p:txBody>
      </p:sp>
      <p:pic>
        <p:nvPicPr>
          <p:cNvPr id="1015" name="Image 1015" descr="Ilustracja: osoba pod stosem informacj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6957" y="2209770"/>
            <a:ext cx="2619684" cy="2606040"/>
          </a:xfrm>
          <a:prstGeom prst="rect">
            <a:avLst/>
          </a:prstGeom>
        </p:spPr>
      </p:pic>
      <p:sp>
        <p:nvSpPr>
          <p:cNvPr id="2034" name="Kicker"/>
          <p:cNvSpPr txBox="1"/>
          <p:nvPr/>
        </p:nvSpPr>
        <p:spPr>
          <a:xfrm>
            <a:off x="813816" y="329184"/>
            <a:ext cx="5486400" cy="23774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r>
              <a:rPr lang="pl-PL" sz="1100" b="1" spc="150" dirty="0">
                <a:solidFill>
                  <a:srgbClr val="536B75"/>
                </a:solidFill>
                <a:latin typeface="Commissioner"/>
              </a:rPr>
              <a:t>KROK 3 · PROBLEM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2" name="Ilustracja" descr="Tło: stylizowana mapa ulic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812800" y="744190"/>
            <a:ext cx="1016000" cy="1016000"/>
          </a:xfrm>
          <a:prstGeom prst="roundRect">
            <a:avLst>
              <a:gd name="adj" fmla="val 17500"/>
            </a:avLst>
          </a:prstGeom>
          <a:solidFill>
            <a:srgbClr val="536B7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F7FA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/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2133600" y="609600"/>
            <a:ext cx="8502650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W razie W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133600" y="1325860"/>
            <a:ext cx="850265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Aplikacja dla zwykłych ludzi, którzy chcą być gotowi na kryzys, ale nie czytają PDF-ów i nie są prepersami.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5975" y="2202755"/>
            <a:ext cx="2482850" cy="2754511"/>
          </a:xfrm>
          <a:prstGeom prst="roundRect">
            <a:avLst>
              <a:gd name="adj" fmla="val 7033"/>
            </a:avLst>
          </a:prstGeom>
          <a:solidFill>
            <a:srgbClr val="FAFAFA"/>
          </a:solidFill>
          <a:ln w="6350">
            <a:solidFill>
              <a:srgbClr val="E3E7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2007" y="4260155"/>
            <a:ext cx="197078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Plan dla twojego domu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508375" y="2202755"/>
            <a:ext cx="2482850" cy="2754511"/>
          </a:xfrm>
          <a:prstGeom prst="roundRect">
            <a:avLst>
              <a:gd name="adj" fmla="val 7033"/>
            </a:avLst>
          </a:prstGeom>
          <a:solidFill>
            <a:srgbClr val="FAFAFA"/>
          </a:solidFill>
          <a:ln w="6350">
            <a:solidFill>
              <a:srgbClr val="E3E7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64407" y="4260155"/>
            <a:ext cx="197078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Cała rodzina w planie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00775" y="2202755"/>
            <a:ext cx="2482850" cy="2754511"/>
          </a:xfrm>
          <a:prstGeom prst="roundRect">
            <a:avLst>
              <a:gd name="adj" fmla="val 7033"/>
            </a:avLst>
          </a:prstGeom>
          <a:solidFill>
            <a:srgbClr val="FAFAFA"/>
          </a:solidFill>
          <a:ln w="6350">
            <a:solidFill>
              <a:srgbClr val="E3E7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6807" y="4260155"/>
            <a:ext cx="197078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Plecak i miejsca spotkań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893175" y="2202755"/>
            <a:ext cx="2482850" cy="2754511"/>
          </a:xfrm>
          <a:prstGeom prst="roundRect">
            <a:avLst>
              <a:gd name="adj" fmla="val 7033"/>
            </a:avLst>
          </a:prstGeom>
          <a:solidFill>
            <a:srgbClr val="FAFAFA"/>
          </a:solidFill>
          <a:ln w="6350">
            <a:solidFill>
              <a:srgbClr val="E3E7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9207" y="4260155"/>
            <a:ext cx="1970786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Tryb awaryjny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8204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6B7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5</a:t>
            </a:r>
            <a:endParaRPr lang="en-US" sz="1200" dirty="0"/>
          </a:p>
        </p:txBody>
      </p:sp>
      <p:pic>
        <p:nvPicPr>
          <p:cNvPr id="1002" name="Image 1002" descr="Logo W razie 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080" y="825470"/>
            <a:ext cx="853440" cy="853440"/>
          </a:xfrm>
          <a:prstGeom prst="rect">
            <a:avLst/>
          </a:prstGeom>
        </p:spPr>
      </p:pic>
      <p:pic>
        <p:nvPicPr>
          <p:cNvPr id="2005" name="Ilustracja" descr="Ilustracja: rodzina w drzwiac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4736" y="2339915"/>
            <a:ext cx="1565329" cy="1828800"/>
          </a:xfrm>
          <a:prstGeom prst="rect">
            <a:avLst/>
          </a:prstGeom>
        </p:spPr>
      </p:pic>
      <p:pic>
        <p:nvPicPr>
          <p:cNvPr id="2006" name="Ilustracja" descr="Ilustracja: udostępnienie planu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4480" y="2339915"/>
            <a:ext cx="2130641" cy="1828800"/>
          </a:xfrm>
          <a:prstGeom prst="rect">
            <a:avLst/>
          </a:prstGeom>
        </p:spPr>
      </p:pic>
      <p:pic>
        <p:nvPicPr>
          <p:cNvPr id="2007" name="Ilustracja" descr="Ilustracja: pakowanie plecak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7656" y="2339915"/>
            <a:ext cx="2189087" cy="1828800"/>
          </a:xfrm>
          <a:prstGeom prst="rect">
            <a:avLst/>
          </a:prstGeom>
        </p:spPr>
      </p:pic>
      <p:pic>
        <p:nvPicPr>
          <p:cNvPr id="2008" name="Ilustracja" descr="Ilustracja: prowadzenie do punktu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30335" y="2519289"/>
            <a:ext cx="2208530" cy="1470053"/>
          </a:xfrm>
          <a:prstGeom prst="rect">
            <a:avLst/>
          </a:prstGeom>
        </p:spPr>
      </p:pic>
      <p:sp>
        <p:nvSpPr>
          <p:cNvPr id="2009" name="!!droga"/>
          <p:cNvSpPr/>
          <p:nvPr/>
        </p:nvSpPr>
        <p:spPr>
          <a:xfrm>
            <a:off x="2057400" y="5341314"/>
            <a:ext cx="8077200" cy="9144"/>
          </a:xfrm>
          <a:custGeom>
            <a:avLst/>
            <a:gdLst/>
            <a:ahLst/>
            <a:cxnLst/>
            <a:rect l="0" t="0" r="r" b="b"/>
            <a:pathLst>
              <a:path w="8077200" h="9144">
                <a:moveTo>
                  <a:pt x="0" y="0"/>
                </a:moveTo>
                <a:lnTo>
                  <a:pt x="8077200" y="0"/>
                </a:lnTo>
              </a:path>
            </a:pathLst>
          </a:custGeom>
          <a:noFill/>
          <a:ln w="28575" cap="rnd">
            <a:solidFill>
              <a:srgbClr val="536B75"/>
            </a:solidFill>
            <a:prstDash val="dash"/>
            <a:round/>
          </a:ln>
        </p:spPr>
      </p:sp>
      <p:sp>
        <p:nvSpPr>
          <p:cNvPr id="2010" name="Znacznik"/>
          <p:cNvSpPr/>
          <p:nvPr/>
        </p:nvSpPr>
        <p:spPr>
          <a:xfrm>
            <a:off x="1837944" y="5121858"/>
            <a:ext cx="438912" cy="438912"/>
          </a:xfrm>
          <a:prstGeom prst="ellipse">
            <a:avLst/>
          </a:prstGeom>
          <a:solidFill>
            <a:srgbClr val="FAFAFA"/>
          </a:solidFill>
          <a:ln w="19050">
            <a:solidFill>
              <a:srgbClr val="536B75"/>
            </a:solidFill>
          </a:ln>
        </p:spPr>
      </p:sp>
      <p:pic>
        <p:nvPicPr>
          <p:cNvPr id="2011" name="Ilustracja" descr="Znacznik: Hous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29384" y="5213298"/>
            <a:ext cx="256032" cy="256032"/>
          </a:xfrm>
          <a:prstGeom prst="rect">
            <a:avLst/>
          </a:prstGeom>
        </p:spPr>
      </p:pic>
      <p:sp>
        <p:nvSpPr>
          <p:cNvPr id="2012" name="Znacznik"/>
          <p:cNvSpPr/>
          <p:nvPr/>
        </p:nvSpPr>
        <p:spPr>
          <a:xfrm>
            <a:off x="4530344" y="5121858"/>
            <a:ext cx="438912" cy="438912"/>
          </a:xfrm>
          <a:prstGeom prst="ellipse">
            <a:avLst/>
          </a:prstGeom>
          <a:solidFill>
            <a:srgbClr val="FAFAFA"/>
          </a:solidFill>
          <a:ln w="19050">
            <a:solidFill>
              <a:srgbClr val="536B75"/>
            </a:solidFill>
          </a:ln>
        </p:spPr>
      </p:sp>
      <p:pic>
        <p:nvPicPr>
          <p:cNvPr id="2013" name="Ilustracja" descr="Znacznik: User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21784" y="5213298"/>
            <a:ext cx="256032" cy="256032"/>
          </a:xfrm>
          <a:prstGeom prst="rect">
            <a:avLst/>
          </a:prstGeom>
        </p:spPr>
      </p:pic>
      <p:sp>
        <p:nvSpPr>
          <p:cNvPr id="2014" name="Znacznik"/>
          <p:cNvSpPr/>
          <p:nvPr/>
        </p:nvSpPr>
        <p:spPr>
          <a:xfrm>
            <a:off x="7222744" y="5121858"/>
            <a:ext cx="438912" cy="438912"/>
          </a:xfrm>
          <a:prstGeom prst="ellipse">
            <a:avLst/>
          </a:prstGeom>
          <a:solidFill>
            <a:srgbClr val="FAFAFA"/>
          </a:solidFill>
          <a:ln w="19050">
            <a:solidFill>
              <a:srgbClr val="536B75"/>
            </a:solidFill>
          </a:ln>
        </p:spPr>
      </p:sp>
      <p:pic>
        <p:nvPicPr>
          <p:cNvPr id="2015" name="Ilustracja" descr="Znacznik: Backpack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4184" y="5213298"/>
            <a:ext cx="256032" cy="256032"/>
          </a:xfrm>
          <a:prstGeom prst="rect">
            <a:avLst/>
          </a:prstGeom>
        </p:spPr>
      </p:pic>
      <p:sp>
        <p:nvSpPr>
          <p:cNvPr id="2016" name="Znacznik"/>
          <p:cNvSpPr/>
          <p:nvPr/>
        </p:nvSpPr>
        <p:spPr>
          <a:xfrm>
            <a:off x="9915144" y="5121858"/>
            <a:ext cx="438912" cy="438912"/>
          </a:xfrm>
          <a:prstGeom prst="ellipse">
            <a:avLst/>
          </a:prstGeom>
          <a:solidFill>
            <a:srgbClr val="FAFAFA"/>
          </a:solidFill>
          <a:ln w="19050">
            <a:solidFill>
              <a:srgbClr val="536B75"/>
            </a:solidFill>
          </a:ln>
        </p:spPr>
      </p:sp>
      <p:pic>
        <p:nvPicPr>
          <p:cNvPr id="2017" name="Ilustracja" descr="Znacznik: Navigati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06584" y="5213298"/>
            <a:ext cx="256032" cy="256032"/>
          </a:xfrm>
          <a:prstGeom prst="rect">
            <a:avLst/>
          </a:prstGeom>
        </p:spPr>
      </p:pic>
      <p:sp>
        <p:nvSpPr>
          <p:cNvPr id="2035" name="Kicker"/>
          <p:cNvSpPr txBox="1"/>
          <p:nvPr/>
        </p:nvSpPr>
        <p:spPr>
          <a:xfrm>
            <a:off x="2130552" y="329184"/>
            <a:ext cx="5486400" cy="23774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r>
              <a:rPr lang="pl-PL" sz="1100" b="1" spc="150" dirty="0">
                <a:solidFill>
                  <a:srgbClr val="536B75"/>
                </a:solidFill>
                <a:latin typeface="Commissioner"/>
              </a:rPr>
              <a:t>KROK 4 · ROZWIĄZANIE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B1117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812800" y="609600"/>
            <a:ext cx="4604512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Jeden produkt, dwa tryby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117600" y="1879600"/>
            <a:ext cx="39243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36B75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Przed kryzysem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010400" y="1879600"/>
            <a:ext cx="39243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C15C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W kryzysie</a:t>
            </a:r>
            <a:endParaRPr lang="en-US" sz="1400" dirty="0"/>
          </a:p>
        </p:txBody>
      </p:sp>
      <p:pic>
        <p:nvPicPr>
          <p:cNvPr id="1007" name="Image 1007" descr="Zrzut ekranu aplikacji w trybie offline: przygotowanie-1-miejsca"/>
          <p:cNvPicPr>
            <a:picLocks noChangeAspect="1"/>
          </p:cNvPicPr>
          <p:nvPr/>
        </p:nvPicPr>
        <p:blipFill>
          <a:blip r:embed="rId3"/>
          <a:srcRect b="11265"/>
          <a:stretch>
            <a:fillRect/>
          </a:stretch>
        </p:blipFill>
        <p:spPr>
          <a:xfrm>
            <a:off x="1115568" y="2331720"/>
            <a:ext cx="2240280" cy="4526280"/>
          </a:xfrm>
          <a:prstGeom prst="rect">
            <a:avLst/>
          </a:prstGeom>
        </p:spPr>
      </p:pic>
      <p:pic>
        <p:nvPicPr>
          <p:cNvPr id="1008" name="Image 1008" descr="Zrzut ekranu aplikacji w trybie offline: przygotowanie-2-plecak"/>
          <p:cNvPicPr>
            <a:picLocks noChangeAspect="1"/>
          </p:cNvPicPr>
          <p:nvPr/>
        </p:nvPicPr>
        <p:blipFill>
          <a:blip r:embed="rId4"/>
          <a:srcRect b="11265"/>
          <a:stretch>
            <a:fillRect/>
          </a:stretch>
        </p:blipFill>
        <p:spPr>
          <a:xfrm>
            <a:off x="3630168" y="2331720"/>
            <a:ext cx="2240280" cy="4526280"/>
          </a:xfrm>
          <a:prstGeom prst="rect">
            <a:avLst/>
          </a:prstGeom>
        </p:spPr>
      </p:pic>
      <p:pic>
        <p:nvPicPr>
          <p:cNvPr id="1009" name="Image 1009" descr="Zrzut ekranu aplikacji w trybie offline: kryzys-1-krok"/>
          <p:cNvPicPr>
            <a:picLocks noChangeAspect="1"/>
          </p:cNvPicPr>
          <p:nvPr/>
        </p:nvPicPr>
        <p:blipFill>
          <a:blip r:embed="rId5"/>
          <a:srcRect b="11265"/>
          <a:stretch>
            <a:fillRect/>
          </a:stretch>
        </p:blipFill>
        <p:spPr>
          <a:xfrm>
            <a:off x="7013448" y="2331720"/>
            <a:ext cx="2240280" cy="4526280"/>
          </a:xfrm>
          <a:prstGeom prst="rect">
            <a:avLst/>
          </a:prstGeom>
        </p:spPr>
      </p:pic>
      <p:pic>
        <p:nvPicPr>
          <p:cNvPr id="1010" name="Image 1010" descr="Zrzut ekranu aplikacji w trybie offline: kryzys-2-prowadzenie"/>
          <p:cNvPicPr>
            <a:picLocks noChangeAspect="1"/>
          </p:cNvPicPr>
          <p:nvPr/>
        </p:nvPicPr>
        <p:blipFill>
          <a:blip r:embed="rId6"/>
          <a:srcRect b="11265"/>
          <a:stretch>
            <a:fillRect/>
          </a:stretch>
        </p:blipFill>
        <p:spPr>
          <a:xfrm>
            <a:off x="9528048" y="2331720"/>
            <a:ext cx="2240280" cy="4526280"/>
          </a:xfrm>
          <a:prstGeom prst="rect">
            <a:avLst/>
          </a:prstGeom>
        </p:spPr>
      </p:pic>
      <p:sp>
        <p:nvSpPr>
          <p:cNvPr id="2018" name="!!droga"/>
          <p:cNvSpPr/>
          <p:nvPr/>
        </p:nvSpPr>
        <p:spPr>
          <a:xfrm>
            <a:off x="1115568" y="2231136"/>
            <a:ext cx="4937760" cy="9144"/>
          </a:xfrm>
          <a:custGeom>
            <a:avLst/>
            <a:gdLst/>
            <a:ahLst/>
            <a:cxnLst/>
            <a:rect l="0" t="0" r="r" b="b"/>
            <a:pathLst>
              <a:path w="4937760" h="9144">
                <a:moveTo>
                  <a:pt x="0" y="0"/>
                </a:moveTo>
                <a:lnTo>
                  <a:pt x="4937760" y="0"/>
                </a:lnTo>
              </a:path>
            </a:pathLst>
          </a:custGeom>
          <a:noFill/>
          <a:ln w="28575" cap="rnd">
            <a:solidFill>
              <a:srgbClr val="536B75"/>
            </a:solidFill>
            <a:prstDash val="dash"/>
            <a:round/>
          </a:ln>
        </p:spPr>
      </p:sp>
      <p:sp>
        <p:nvSpPr>
          <p:cNvPr id="2019" name="Ścieżka kryzys"/>
          <p:cNvSpPr/>
          <p:nvPr/>
        </p:nvSpPr>
        <p:spPr>
          <a:xfrm>
            <a:off x="6144768" y="2231136"/>
            <a:ext cx="5623560" cy="9144"/>
          </a:xfrm>
          <a:custGeom>
            <a:avLst/>
            <a:gdLst/>
            <a:ahLst/>
            <a:cxnLst/>
            <a:rect l="0" t="0" r="r" b="b"/>
            <a:pathLst>
              <a:path w="5623560" h="9144">
                <a:moveTo>
                  <a:pt x="0" y="0"/>
                </a:moveTo>
                <a:lnTo>
                  <a:pt x="5623560" y="0"/>
                </a:lnTo>
              </a:path>
            </a:pathLst>
          </a:custGeom>
          <a:noFill/>
          <a:ln w="28575" cap="rnd">
            <a:solidFill>
              <a:srgbClr val="F2C15C"/>
            </a:solidFill>
            <a:prstDash val="dash"/>
            <a:round/>
          </a:ln>
        </p:spPr>
      </p:sp>
      <p:sp>
        <p:nvSpPr>
          <p:cNvPr id="2020" name="Punkt"/>
          <p:cNvSpPr/>
          <p:nvPr/>
        </p:nvSpPr>
        <p:spPr>
          <a:xfrm>
            <a:off x="11695176" y="2157984"/>
            <a:ext cx="146304" cy="146304"/>
          </a:xfrm>
          <a:prstGeom prst="ellipse">
            <a:avLst/>
          </a:prstGeom>
          <a:solidFill>
            <a:srgbClr val="F2C15C"/>
          </a:solidFill>
          <a:ln>
            <a:noFill/>
          </a:ln>
        </p:spPr>
      </p:sp>
      <p:sp>
        <p:nvSpPr>
          <p:cNvPr id="10" name="Text 8"/>
          <p:cNvSpPr/>
          <p:nvPr/>
        </p:nvSpPr>
        <p:spPr>
          <a:xfrm>
            <a:off x="108204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3E7E9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6</a:t>
            </a:r>
            <a:endParaRPr lang="en-US" sz="1200" dirty="0"/>
          </a:p>
        </p:txBody>
      </p:sp>
      <p:sp>
        <p:nvSpPr>
          <p:cNvPr id="2036" name="Kicker"/>
          <p:cNvSpPr txBox="1"/>
          <p:nvPr/>
        </p:nvSpPr>
        <p:spPr>
          <a:xfrm>
            <a:off x="813816" y="329184"/>
            <a:ext cx="5486400" cy="23774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r>
              <a:rPr lang="pl-PL" sz="1100" b="1" spc="150" dirty="0">
                <a:solidFill>
                  <a:srgbClr val="536B75"/>
                </a:solidFill>
                <a:latin typeface="Commissioner"/>
              </a:rPr>
              <a:t>KROK 5 · PRODUKT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Czym się różnimy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420465"/>
            <a:ext cx="2482850" cy="3046611"/>
          </a:xfrm>
          <a:prstGeom prst="roundRect">
            <a:avLst>
              <a:gd name="adj" fmla="val 7033"/>
            </a:avLst>
          </a:prstGeom>
          <a:solidFill>
            <a:srgbClr val="FAFAFA"/>
          </a:solidFill>
          <a:ln w="6350">
            <a:solidFill>
              <a:srgbClr val="E3E7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9500" y="1683990"/>
            <a:ext cx="585216" cy="585216"/>
          </a:xfrm>
          <a:prstGeom prst="roundRect">
            <a:avLst>
              <a:gd name="adj" fmla="val 17742"/>
            </a:avLst>
          </a:prstGeom>
          <a:solidFill>
            <a:srgbClr val="E3E7E9"/>
          </a:solidFill>
          <a:ln>
            <a:noFill/>
          </a:ln>
        </p:spPr>
      </p:sp>
      <p:sp>
        <p:nvSpPr>
          <p:cNvPr id="5" name="Text 3"/>
          <p:cNvSpPr/>
          <p:nvPr/>
        </p:nvSpPr>
        <p:spPr>
          <a:xfrm>
            <a:off x="1073150" y="2402556"/>
            <a:ext cx="2027555" cy="901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Twój plan zamiast poradnika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3150" y="3405856"/>
            <a:ext cx="2027555" cy="1020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Ogólne wytyczne zamieniamy w plan dla konkretnego domu i konkretnych osób.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08375" y="1420465"/>
            <a:ext cx="2482850" cy="3046611"/>
          </a:xfrm>
          <a:prstGeom prst="roundRect">
            <a:avLst>
              <a:gd name="adj" fmla="val 7033"/>
            </a:avLst>
          </a:prstGeom>
          <a:solidFill>
            <a:srgbClr val="FAFAFA"/>
          </a:solidFill>
          <a:ln w="6350">
            <a:solidFill>
              <a:srgbClr val="E3E7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71900" y="1683990"/>
            <a:ext cx="585216" cy="585216"/>
          </a:xfrm>
          <a:prstGeom prst="roundRect">
            <a:avLst>
              <a:gd name="adj" fmla="val 17742"/>
            </a:avLst>
          </a:prstGeom>
          <a:solidFill>
            <a:srgbClr val="E3E7E9"/>
          </a:solidFill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3765550" y="2402556"/>
            <a:ext cx="20275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Działanie zamiast czytania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65550" y="3113756"/>
            <a:ext cx="2027555" cy="1020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Przygotowujesz się stopniowo, a w kryzysie widzisz tylko następny krok.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00775" y="1420465"/>
            <a:ext cx="2482850" cy="3046611"/>
          </a:xfrm>
          <a:prstGeom prst="roundRect">
            <a:avLst>
              <a:gd name="adj" fmla="val 7033"/>
            </a:avLst>
          </a:prstGeom>
          <a:solidFill>
            <a:srgbClr val="FAFAFA"/>
          </a:solidFill>
          <a:ln w="6350">
            <a:solidFill>
              <a:srgbClr val="E3E7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64300" y="1683990"/>
            <a:ext cx="585216" cy="585216"/>
          </a:xfrm>
          <a:prstGeom prst="roundRect">
            <a:avLst>
              <a:gd name="adj" fmla="val 17742"/>
            </a:avLst>
          </a:prstGeom>
          <a:solidFill>
            <a:srgbClr val="E3E7E9"/>
          </a:solidFill>
          <a:ln>
            <a:noFill/>
          </a:ln>
        </p:spPr>
      </p:sp>
      <p:sp>
        <p:nvSpPr>
          <p:cNvPr id="13" name="Text 11"/>
          <p:cNvSpPr/>
          <p:nvPr/>
        </p:nvSpPr>
        <p:spPr>
          <a:xfrm>
            <a:off x="6457950" y="2402556"/>
            <a:ext cx="20275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Działa bez internetu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57950" y="3113756"/>
            <a:ext cx="2027555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Plan jest zapisany w telefonie, więc działa też wtedy, gdy padnie sieć.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893175" y="1420465"/>
            <a:ext cx="2482850" cy="3046611"/>
          </a:xfrm>
          <a:prstGeom prst="roundRect">
            <a:avLst>
              <a:gd name="adj" fmla="val 7033"/>
            </a:avLst>
          </a:prstGeom>
          <a:solidFill>
            <a:srgbClr val="FAFAFA"/>
          </a:solidFill>
          <a:ln w="6350">
            <a:solidFill>
              <a:srgbClr val="E3E7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56700" y="1683990"/>
            <a:ext cx="585216" cy="585216"/>
          </a:xfrm>
          <a:prstGeom prst="roundRect">
            <a:avLst>
              <a:gd name="adj" fmla="val 17742"/>
            </a:avLst>
          </a:prstGeom>
          <a:solidFill>
            <a:srgbClr val="E3E7E9"/>
          </a:solidFill>
          <a:ln>
            <a:noFill/>
          </a:ln>
        </p:spPr>
      </p:sp>
      <p:sp>
        <p:nvSpPr>
          <p:cNvPr id="17" name="Text 15"/>
          <p:cNvSpPr/>
          <p:nvPr/>
        </p:nvSpPr>
        <p:spPr>
          <a:xfrm>
            <a:off x="9150350" y="2402556"/>
            <a:ext cx="202755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Bez konta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50350" y="2821656"/>
            <a:ext cx="2027555" cy="1020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Nie zakładasz konta, a plan zostaje na twoim telefonie, nie na naszym serwerze.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4775051"/>
            <a:ext cx="7404745" cy="386060"/>
          </a:xfrm>
          <a:prstGeom prst="roundRect">
            <a:avLst>
              <a:gd name="adj" fmla="val 13159"/>
            </a:avLst>
          </a:prstGeom>
          <a:solidFill>
            <a:srgbClr val="C89A4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Działa już teraz: aplikacja jest wdrożona i otwiera się w przeglądarce telefonu.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8204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6B7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7</a:t>
            </a:r>
            <a:endParaRPr lang="en-US" sz="1200" dirty="0"/>
          </a:p>
        </p:txBody>
      </p:sp>
      <p:pic>
        <p:nvPicPr>
          <p:cNvPr id="1003" name="Image 1003" descr="ListCheck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543" y="1801033"/>
            <a:ext cx="351130" cy="351130"/>
          </a:xfrm>
          <a:prstGeom prst="rect">
            <a:avLst/>
          </a:prstGeom>
        </p:spPr>
      </p:pic>
      <p:pic>
        <p:nvPicPr>
          <p:cNvPr id="1004" name="Image 1004" descr="Footprin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8943" y="1801033"/>
            <a:ext cx="351130" cy="351130"/>
          </a:xfrm>
          <a:prstGeom prst="rect">
            <a:avLst/>
          </a:prstGeom>
        </p:spPr>
      </p:pic>
      <p:pic>
        <p:nvPicPr>
          <p:cNvPr id="1005" name="Image 1005" descr="WifiOf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343" y="1801033"/>
            <a:ext cx="351130" cy="351130"/>
          </a:xfrm>
          <a:prstGeom prst="rect">
            <a:avLst/>
          </a:prstGeom>
        </p:spPr>
      </p:pic>
      <p:pic>
        <p:nvPicPr>
          <p:cNvPr id="1006" name="Image 1006" descr="UserX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3743" y="1801033"/>
            <a:ext cx="351130" cy="351130"/>
          </a:xfrm>
          <a:prstGeom prst="rect">
            <a:avLst/>
          </a:prstGeom>
        </p:spPr>
      </p:pic>
      <p:sp>
        <p:nvSpPr>
          <p:cNvPr id="2037" name="Kicker"/>
          <p:cNvSpPr txBox="1"/>
          <p:nvPr/>
        </p:nvSpPr>
        <p:spPr>
          <a:xfrm>
            <a:off x="813816" y="329184"/>
            <a:ext cx="5486400" cy="23774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r>
              <a:rPr lang="pl-PL" sz="1100" b="1" spc="150" dirty="0">
                <a:solidFill>
                  <a:srgbClr val="536B75"/>
                </a:solidFill>
                <a:latin typeface="Commissioner"/>
              </a:rPr>
              <a:t>KROK 6 · DLACZEGO MY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" name="Punkt docelowy — tło"/>
          <p:cNvSpPr/>
          <p:nvPr/>
        </p:nvSpPr>
        <p:spPr>
          <a:xfrm>
            <a:off x="9555480" y="4343400"/>
            <a:ext cx="4572000" cy="4572000"/>
          </a:xfrm>
          <a:prstGeom prst="ellipse">
            <a:avLst/>
          </a:prstGeom>
          <a:solidFill>
            <a:srgbClr val="E3E7E9"/>
          </a:solidFill>
          <a:ln>
            <a:noFill/>
          </a:ln>
        </p:spPr>
      </p:sp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Dalsze kroki rozwoju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420465"/>
            <a:ext cx="2482850" cy="2754511"/>
          </a:xfrm>
          <a:prstGeom prst="roundRect">
            <a:avLst>
              <a:gd name="adj" fmla="val 7033"/>
            </a:avLst>
          </a:prstGeom>
          <a:solidFill>
            <a:srgbClr val="FAFAFA"/>
          </a:solidFill>
          <a:ln w="6350">
            <a:solidFill>
              <a:srgbClr val="E3E7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2007" y="3340705"/>
            <a:ext cx="197078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Gdzie jest rodzina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508375" y="1420465"/>
            <a:ext cx="2482850" cy="2754511"/>
          </a:xfrm>
          <a:prstGeom prst="roundRect">
            <a:avLst>
              <a:gd name="adj" fmla="val 7033"/>
            </a:avLst>
          </a:prstGeom>
          <a:solidFill>
            <a:srgbClr val="FAFAFA"/>
          </a:solidFill>
          <a:ln w="6350">
            <a:solidFill>
              <a:srgbClr val="E3E7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64407" y="3340705"/>
            <a:ext cx="1970786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Wspólny plan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00775" y="1420465"/>
            <a:ext cx="2482850" cy="2754511"/>
          </a:xfrm>
          <a:prstGeom prst="roundRect">
            <a:avLst>
              <a:gd name="adj" fmla="val 7033"/>
            </a:avLst>
          </a:prstGeom>
          <a:solidFill>
            <a:srgbClr val="FAFAFA"/>
          </a:solidFill>
          <a:ln w="6350">
            <a:solidFill>
              <a:srgbClr val="E3E7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6807" y="3340705"/>
            <a:ext cx="1970786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Oficjalne dane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893175" y="1420465"/>
            <a:ext cx="2482850" cy="2754511"/>
          </a:xfrm>
          <a:prstGeom prst="roundRect">
            <a:avLst>
              <a:gd name="adj" fmla="val 7033"/>
            </a:avLst>
          </a:prstGeom>
          <a:solidFill>
            <a:srgbClr val="FAFAFA"/>
          </a:solidFill>
          <a:ln w="6350">
            <a:solidFill>
              <a:srgbClr val="E3E7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9207" y="3340705"/>
            <a:ext cx="197078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Więcej scenariuszy</a:t>
            </a:r>
            <a:endParaRPr lang="en-US" sz="2000" dirty="0"/>
          </a:p>
        </p:txBody>
      </p:sp>
      <p:pic>
        <p:nvPicPr>
          <p:cNvPr id="2024" name="Ilustracja" descr="Ilustracja: lokalizacja rodzin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424" y="1557625"/>
            <a:ext cx="1059952" cy="1691640"/>
          </a:xfrm>
          <a:prstGeom prst="rect">
            <a:avLst/>
          </a:prstGeom>
        </p:spPr>
      </p:pic>
      <p:pic>
        <p:nvPicPr>
          <p:cNvPr id="2025" name="Ilustracja" descr="Ilustracja: wspólny pla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2577" y="1557625"/>
            <a:ext cx="1794447" cy="1691640"/>
          </a:xfrm>
          <a:prstGeom prst="rect">
            <a:avLst/>
          </a:prstGeom>
        </p:spPr>
      </p:pic>
      <p:pic>
        <p:nvPicPr>
          <p:cNvPr id="2026" name="Ilustracja" descr="Ilustracja: oficjalne dan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5851" y="1557625"/>
            <a:ext cx="1372699" cy="1691640"/>
          </a:xfrm>
          <a:prstGeom prst="rect">
            <a:avLst/>
          </a:prstGeom>
        </p:spPr>
      </p:pic>
      <p:pic>
        <p:nvPicPr>
          <p:cNvPr id="2027" name="Ilustracja" descr="Ilustracja: blackout w domu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0335" y="1600552"/>
            <a:ext cx="2208530" cy="1605785"/>
          </a:xfrm>
          <a:prstGeom prst="rect">
            <a:avLst/>
          </a:prstGeom>
        </p:spPr>
      </p:pic>
      <p:sp>
        <p:nvSpPr>
          <p:cNvPr id="2029" name="Pierścień"/>
          <p:cNvSpPr/>
          <p:nvPr/>
        </p:nvSpPr>
        <p:spPr>
          <a:xfrm>
            <a:off x="10424160" y="5212080"/>
            <a:ext cx="2834640" cy="2834640"/>
          </a:xfrm>
          <a:prstGeom prst="ellipse">
            <a:avLst/>
          </a:prstGeom>
          <a:noFill/>
          <a:ln w="38100">
            <a:solidFill>
              <a:srgbClr val="536B75"/>
            </a:solidFill>
          </a:ln>
        </p:spPr>
      </p:sp>
      <p:sp>
        <p:nvSpPr>
          <p:cNvPr id="2030" name="Punkt"/>
          <p:cNvSpPr/>
          <p:nvPr/>
        </p:nvSpPr>
        <p:spPr>
          <a:xfrm>
            <a:off x="11567160" y="6355080"/>
            <a:ext cx="548640" cy="548640"/>
          </a:xfrm>
          <a:prstGeom prst="ellipse">
            <a:avLst/>
          </a:prstGeom>
          <a:solidFill>
            <a:srgbClr val="536B75"/>
          </a:solidFill>
          <a:ln>
            <a:noFill/>
          </a:ln>
        </p:spPr>
      </p:sp>
      <p:sp>
        <p:nvSpPr>
          <p:cNvPr id="2031" name="Ścieżka do celu"/>
          <p:cNvSpPr/>
          <p:nvPr/>
        </p:nvSpPr>
        <p:spPr>
          <a:xfrm>
            <a:off x="10140696" y="4526280"/>
            <a:ext cx="1289304" cy="1737360"/>
          </a:xfrm>
          <a:custGeom>
            <a:avLst/>
            <a:gdLst/>
            <a:ahLst/>
            <a:cxnLst/>
            <a:rect l="0" t="0" r="r" b="b"/>
            <a:pathLst>
              <a:path w="1289304" h="1737360">
                <a:moveTo>
                  <a:pt x="0" y="0"/>
                </a:moveTo>
                <a:cubicBezTo>
                  <a:pt x="100584" y="685800"/>
                  <a:pt x="466344" y="1234440"/>
                  <a:pt x="1289304" y="1737360"/>
                </a:cubicBezTo>
              </a:path>
            </a:pathLst>
          </a:custGeom>
          <a:noFill/>
          <a:ln w="28575" cap="rnd">
            <a:solidFill>
              <a:srgbClr val="536B75"/>
            </a:solidFill>
            <a:prstDash val="dash"/>
            <a:round/>
          </a:ln>
        </p:spPr>
      </p:sp>
      <p:sp>
        <p:nvSpPr>
          <p:cNvPr id="19" name="Text 17"/>
          <p:cNvSpPr/>
          <p:nvPr/>
        </p:nvSpPr>
        <p:spPr>
          <a:xfrm>
            <a:off x="108204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6B7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8</a:t>
            </a:r>
            <a:endParaRPr lang="en-US" sz="1200" dirty="0"/>
          </a:p>
        </p:txBody>
      </p:sp>
      <p:sp>
        <p:nvSpPr>
          <p:cNvPr id="2038" name="Kicker"/>
          <p:cNvSpPr txBox="1"/>
          <p:nvPr/>
        </p:nvSpPr>
        <p:spPr>
          <a:xfrm>
            <a:off x="813816" y="329184"/>
            <a:ext cx="5486400" cy="23774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r>
              <a:rPr lang="pl-PL" sz="1100" b="1" spc="150" dirty="0">
                <a:solidFill>
                  <a:srgbClr val="536B75"/>
                </a:solidFill>
                <a:latin typeface="Commissioner"/>
              </a:rPr>
              <a:t>KROK 7 · CO DALEJ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3" name="Ilustracja" descr="Tło: stylizowana mapa ulic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6B7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Aneks – do wersji PDF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Problem w skrócie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9150" y="1713161"/>
            <a:ext cx="393700" cy="393700"/>
          </a:xfrm>
          <a:prstGeom prst="roundRect">
            <a:avLst>
              <a:gd name="adj" fmla="val 17742"/>
            </a:avLst>
          </a:prstGeom>
          <a:solidFill>
            <a:srgbClr val="E3E7E9"/>
          </a:solidFill>
          <a:ln>
            <a:noFill/>
          </a:ln>
        </p:spPr>
      </p:sp>
      <p:sp>
        <p:nvSpPr>
          <p:cNvPr id="5" name="Text 3"/>
          <p:cNvSpPr/>
          <p:nvPr/>
        </p:nvSpPr>
        <p:spPr>
          <a:xfrm>
            <a:off x="1473200" y="1706811"/>
            <a:ext cx="9810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Bezpieczeństwo to codzienny temat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73200" y="2037011"/>
            <a:ext cx="98107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Od miesięcy w mediach wracają drony, wojna i obrona cywilna.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9150" y="2556421"/>
            <a:ext cx="393700" cy="393700"/>
          </a:xfrm>
          <a:prstGeom prst="roundRect">
            <a:avLst>
              <a:gd name="adj" fmla="val 17742"/>
            </a:avLst>
          </a:prstGeom>
          <a:solidFill>
            <a:srgbClr val="E3E7E9"/>
          </a:solidFill>
          <a:ln>
            <a:noFill/>
          </a:ln>
        </p:spPr>
      </p:sp>
      <p:sp>
        <p:nvSpPr>
          <p:cNvPr id="8" name="Text 6"/>
          <p:cNvSpPr/>
          <p:nvPr/>
        </p:nvSpPr>
        <p:spPr>
          <a:xfrm>
            <a:off x="1473200" y="2550071"/>
            <a:ext cx="9810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Większość z nas nic nie przygotowała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73200" y="2880271"/>
            <a:ext cx="98107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77% badanych w żaden sposób nie przygotowuje się na wojnę (SW Research dla Onetu, 2025).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9150" y="3399681"/>
            <a:ext cx="393700" cy="393700"/>
          </a:xfrm>
          <a:prstGeom prst="roundRect">
            <a:avLst>
              <a:gd name="adj" fmla="val 17742"/>
            </a:avLst>
          </a:prstGeom>
          <a:solidFill>
            <a:srgbClr val="E3E7E9"/>
          </a:solidFill>
          <a:ln>
            <a:noFill/>
          </a:ln>
        </p:spPr>
      </p:sp>
      <p:sp>
        <p:nvSpPr>
          <p:cNvPr id="11" name="Text 9"/>
          <p:cNvSpPr/>
          <p:nvPr/>
        </p:nvSpPr>
        <p:spPr>
          <a:xfrm>
            <a:off x="1473200" y="3393331"/>
            <a:ext cx="9810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Informacji nie brakuje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73200" y="3723531"/>
            <a:ext cx="98107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Poradniki, mapy schronów i aplikacje już są, ale plan dla swojego domu każdy musi ułożyć sam.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9150" y="4242941"/>
            <a:ext cx="393700" cy="393700"/>
          </a:xfrm>
          <a:prstGeom prst="roundRect">
            <a:avLst>
              <a:gd name="adj" fmla="val 17742"/>
            </a:avLst>
          </a:prstGeom>
          <a:solidFill>
            <a:srgbClr val="E3E7E9"/>
          </a:solidFill>
          <a:ln>
            <a:noFill/>
          </a:ln>
        </p:spPr>
      </p:sp>
      <p:sp>
        <p:nvSpPr>
          <p:cNvPr id="14" name="Text 12"/>
          <p:cNvSpPr/>
          <p:nvPr/>
        </p:nvSpPr>
        <p:spPr>
          <a:xfrm>
            <a:off x="1473200" y="4236591"/>
            <a:ext cx="9810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Brakuje ostatniego kroku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73200" y="4566791"/>
            <a:ext cx="98107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02427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W razie W zamienia ogólną wiedzę w plan, który dom może wykonać.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8204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6B70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9</a:t>
            </a:r>
            <a:endParaRPr lang="en-US" sz="1200" dirty="0"/>
          </a:p>
        </p:txBody>
      </p:sp>
      <p:pic>
        <p:nvPicPr>
          <p:cNvPr id="1011" name="Image 1011" descr="Newspa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890" y="1791901"/>
            <a:ext cx="236219" cy="236219"/>
          </a:xfrm>
          <a:prstGeom prst="rect">
            <a:avLst/>
          </a:prstGeom>
        </p:spPr>
      </p:pic>
      <p:pic>
        <p:nvPicPr>
          <p:cNvPr id="1012" name="Image 1012" descr="PackageOp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890" y="2635161"/>
            <a:ext cx="236219" cy="236219"/>
          </a:xfrm>
          <a:prstGeom prst="rect">
            <a:avLst/>
          </a:prstGeom>
        </p:spPr>
      </p:pic>
      <p:pic>
        <p:nvPicPr>
          <p:cNvPr id="1013" name="Image 1013" descr="Librar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890" y="3478421"/>
            <a:ext cx="236219" cy="236219"/>
          </a:xfrm>
          <a:prstGeom prst="rect">
            <a:avLst/>
          </a:prstGeom>
        </p:spPr>
      </p:pic>
      <p:pic>
        <p:nvPicPr>
          <p:cNvPr id="1014" name="Image 1014" descr="Rout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890" y="4321681"/>
            <a:ext cx="236219" cy="2362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 razie W – HackYeah 2026">
  <a:themeElements>
    <a:clrScheme name="W razie W – HackYeah 2026">
      <a:dk1>
        <a:srgbClr val="202427"/>
      </a:dk1>
      <a:lt1>
        <a:srgbClr val="F1F2F3"/>
      </a:lt1>
      <a:dk2>
        <a:srgbClr val="54585A"/>
      </a:dk2>
      <a:lt2>
        <a:srgbClr val="DCDDDF"/>
      </a:lt2>
      <a:accent1>
        <a:srgbClr val="C89A43"/>
      </a:accent1>
      <a:accent2>
        <a:srgbClr val="F2C15C"/>
      </a:accent2>
      <a:accent3>
        <a:srgbClr val="646B70"/>
      </a:accent3>
      <a:accent4>
        <a:srgbClr val="536B75"/>
      </a:accent4>
      <a:accent5>
        <a:srgbClr val="2F3E45"/>
      </a:accent5>
      <a:accent6>
        <a:srgbClr val="9AA0A6"/>
      </a:accent6>
      <a:hlink>
        <a:srgbClr val="0563C1"/>
      </a:hlink>
      <a:folHlink>
        <a:srgbClr val="954F72"/>
      </a:folHlink>
    </a:clrScheme>
    <a:fontScheme name="W razie W – HackYeah 2026">
      <a:majorFont>
        <a:latin typeface="Commission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mmission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 razie W – HackYeah 2026</dc:title>
  <dc:subject/>
  <dc:creator/>
  <cp:lastModifiedBy/>
  <cp:revision>1</cp:revision>
  <dcterms:created xsi:type="dcterms:W3CDTF">2026-10-03T23:46:44Z</dcterms:created>
  <dcterms:modified xsi:type="dcterms:W3CDTF">2026-10-03T23:46:44Z</dcterms:modified>
</cp:coreProperties>
</file>